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52" y="666274"/>
            <a:ext cx="2021919" cy="374333"/>
          </a:xfrm>
          <a:prstGeom prst="roundRect">
            <a:avLst>
              <a:gd name="adj" fmla="val 6594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843201" y="727948"/>
            <a:ext cx="1775222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CLINICAL AI PLATFORM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1117" y="1383506"/>
            <a:ext cx="2468166" cy="24681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9852" y="4264462"/>
            <a:ext cx="5142190" cy="642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Reportसारथी: 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9852" y="4981694"/>
            <a:ext cx="8548688" cy="642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Multi-Modal AI Diagnostics Hub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19852" y="5904071"/>
            <a:ext cx="1319069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 Unified Clinical Intelligence Platform by XIE BOTS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9852" y="6427589"/>
            <a:ext cx="13190696" cy="1135737"/>
          </a:xfrm>
          <a:prstGeom prst="roundRect">
            <a:avLst>
              <a:gd name="adj" fmla="val 2717"/>
            </a:avLst>
          </a:prstGeom>
          <a:solidFill>
            <a:srgbClr val="C3C2F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73" y="6740723"/>
            <a:ext cx="257056" cy="205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8150" y="6665357"/>
            <a:ext cx="12316778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unified AI platform analysing heart, brain, and kidney reports in real time — transforming medical diagnostics with intelligent automation.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3348" y="519827"/>
            <a:ext cx="1462683" cy="316468"/>
          </a:xfrm>
          <a:prstGeom prst="roundRect">
            <a:avLst>
              <a:gd name="adj" fmla="val 686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1181814" y="574000"/>
            <a:ext cx="1245751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PLATFORM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3348" y="893921"/>
            <a:ext cx="7103150" cy="565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One Platform. Every Specialty.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348" y="1837968"/>
            <a:ext cx="7959923" cy="45105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82138" y="3312795"/>
            <a:ext cx="4082415" cy="1560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Multi-Modal AI Diagnostics Hub unifies three high-stakes clinical domains under a single intelligent interface — eliminating silos, accelerating decisions, and empowering clinicians with AI-driven confidence at every level of care.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73348" y="6673096"/>
            <a:ext cx="4065032" cy="1036677"/>
          </a:xfrm>
          <a:prstGeom prst="roundRect">
            <a:avLst>
              <a:gd name="adj" fmla="val 10585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88" y="6673096"/>
            <a:ext cx="91440" cy="10366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5644" y="6876812"/>
            <a:ext cx="2261473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Unified Dashboard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345644" y="7245906"/>
            <a:ext cx="3589020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specialties. One view.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282684" y="6673096"/>
            <a:ext cx="4065032" cy="1036677"/>
          </a:xfrm>
          <a:prstGeom prst="roundRect">
            <a:avLst>
              <a:gd name="adj" fmla="val 10585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824" y="6673096"/>
            <a:ext cx="91440" cy="10366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54980" y="6876812"/>
            <a:ext cx="2261473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Analysis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5554980" y="7245906"/>
            <a:ext cx="3589020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 in seconds, not hours.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492020" y="6673096"/>
            <a:ext cx="4065032" cy="1036677"/>
          </a:xfrm>
          <a:prstGeom prst="roundRect">
            <a:avLst>
              <a:gd name="adj" fmla="val 10585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160" y="6673096"/>
            <a:ext cx="91440" cy="103667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764316" y="6876812"/>
            <a:ext cx="2427565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Interpretable Output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9764316" y="7245906"/>
            <a:ext cx="3589020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Clinician-readable insights.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40410" y="852845"/>
            <a:ext cx="1768435" cy="330041"/>
          </a:xfrm>
          <a:prstGeom prst="roundRect">
            <a:avLst>
              <a:gd name="adj" fmla="val 6794"/>
            </a:avLst>
          </a:prstGeom>
          <a:solidFill>
            <a:srgbClr val="D7D6F5"/>
          </a:solidFill>
          <a:ln/>
        </p:spPr>
      </p:sp>
      <p:sp>
        <p:nvSpPr>
          <p:cNvPr id="4" name="Text 1"/>
          <p:cNvSpPr/>
          <p:nvPr/>
        </p:nvSpPr>
        <p:spPr>
          <a:xfrm>
            <a:off x="6252448" y="908804"/>
            <a:ext cx="1544360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DIAGNOSTICS ENGINE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140410" y="1244441"/>
            <a:ext cx="783597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Specialised AI Models for Every Organ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6140410" y="2643307"/>
            <a:ext cx="3841075" cy="2562344"/>
          </a:xfrm>
          <a:prstGeom prst="roundRect">
            <a:avLst>
              <a:gd name="adj" fmla="val 1094"/>
            </a:avLst>
          </a:prstGeom>
          <a:solidFill>
            <a:srgbClr val="EAE8F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219" y="2830116"/>
            <a:ext cx="560546" cy="560546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1405" y="2984302"/>
            <a:ext cx="252174" cy="25217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27219" y="3544491"/>
            <a:ext cx="2335649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Cardiac AI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327219" y="3928705"/>
            <a:ext cx="3467457" cy="109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RandomForest model trained on </a:t>
            </a:r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cardiac features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including BP, cholesterol, and ECG patterns — for heart disease risk classification.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10135314" y="2643307"/>
            <a:ext cx="3841075" cy="2562344"/>
          </a:xfrm>
          <a:prstGeom prst="roundRect">
            <a:avLst>
              <a:gd name="adj" fmla="val 1094"/>
            </a:avLst>
          </a:prstGeom>
          <a:solidFill>
            <a:srgbClr val="EAE8F3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2123" y="2830116"/>
            <a:ext cx="560546" cy="560546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6309" y="2984302"/>
            <a:ext cx="252174" cy="25217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322123" y="3544491"/>
            <a:ext cx="2335649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Neuro AI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0322123" y="3928705"/>
            <a:ext cx="3467457" cy="109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MRI report NLP pipeline using </a:t>
            </a:r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TF-IDF + Logistic Regression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extract and classify neurological findings from unstructured clinical text.</a:t>
            </a:r>
            <a:endParaRPr lang="en-US" sz="1450" dirty="0"/>
          </a:p>
        </p:txBody>
      </p:sp>
      <p:sp>
        <p:nvSpPr>
          <p:cNvPr id="16" name="Shape 9"/>
          <p:cNvSpPr/>
          <p:nvPr/>
        </p:nvSpPr>
        <p:spPr>
          <a:xfrm>
            <a:off x="6140410" y="5359479"/>
            <a:ext cx="7835979" cy="2017276"/>
          </a:xfrm>
          <a:prstGeom prst="roundRect">
            <a:avLst>
              <a:gd name="adj" fmla="val 1389"/>
            </a:avLst>
          </a:prstGeom>
          <a:solidFill>
            <a:srgbClr val="EAE8F3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219" y="5546288"/>
            <a:ext cx="560546" cy="560546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1405" y="5700474"/>
            <a:ext cx="252174" cy="25217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327219" y="6260663"/>
            <a:ext cx="2335649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Renal AI</a:t>
            </a:r>
            <a:endParaRPr lang="en-US" sz="1800" dirty="0"/>
          </a:p>
        </p:txBody>
      </p:sp>
      <p:sp>
        <p:nvSpPr>
          <p:cNvPr id="20" name="Text 11"/>
          <p:cNvSpPr/>
          <p:nvPr/>
        </p:nvSpPr>
        <p:spPr>
          <a:xfrm>
            <a:off x="6327219" y="6644878"/>
            <a:ext cx="7462361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Dedicated </a:t>
            </a:r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kidney_model.pkl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evaluating 24 renal markers — Creatinine, GFR, Albumin — for chronic kidney disease staging.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3272" y="1078111"/>
            <a:ext cx="1414463" cy="294561"/>
          </a:xfrm>
          <a:prstGeom prst="roundRect">
            <a:avLst>
              <a:gd name="adj" fmla="val 6969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1515904" y="1129427"/>
            <a:ext cx="1209199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PROCESSING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13272" y="1424226"/>
            <a:ext cx="7477125" cy="534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Intelligent Data Ingestion Pipeline</a:t>
            </a:r>
            <a:endParaRPr lang="en-US" sz="3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3272" y="2297430"/>
            <a:ext cx="7526417" cy="41126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05805" y="4224454"/>
            <a:ext cx="1743898" cy="23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PDF Extraction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809444" y="4197696"/>
            <a:ext cx="1743898" cy="23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Heuristic Engine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58241" y="4206264"/>
            <a:ext cx="1743898" cy="23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Multimodal Input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13272" y="6555224"/>
            <a:ext cx="752641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raw clinical documents to structured, model-ready data — the pipeline handles every input format with zero manual pre-processing.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64504" y="2504956"/>
            <a:ext cx="2805470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the Engine Handles</a:t>
            </a:r>
            <a:endParaRPr lang="en-US" sz="16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8559" y="2922627"/>
            <a:ext cx="256580" cy="2565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920287" y="2917388"/>
            <a:ext cx="2138363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PDF Extraction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9920287" y="3313628"/>
            <a:ext cx="330434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parsing via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pdfplumber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handles scanned reports, lab printouts, and clinical letters.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8559" y="4296966"/>
            <a:ext cx="256580" cy="2565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20287" y="4291727"/>
            <a:ext cx="2562106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Heuristic Engine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9920287" y="4687967"/>
            <a:ext cx="330434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Regex-based extraction identifies clinical values, units, and reference ranges with high accuracy.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28559" y="5671304"/>
            <a:ext cx="256580" cy="2565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920287" y="5666065"/>
            <a:ext cx="2326958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Flexible Input Modes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9920287" y="6062305"/>
            <a:ext cx="330434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Accepts PDF uploads, free-text paste, and structured form entry — meeting clinicians where they are.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054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037" y="3396496"/>
            <a:ext cx="1952268" cy="342781"/>
          </a:xfrm>
          <a:prstGeom prst="roundRect">
            <a:avLst>
              <a:gd name="adj" fmla="val 6737"/>
            </a:avLst>
          </a:prstGeom>
          <a:solidFill>
            <a:srgbClr val="D7D6F5"/>
          </a:solidFill>
          <a:ln/>
        </p:spPr>
      </p:sp>
      <p:sp>
        <p:nvSpPr>
          <p:cNvPr id="4" name="Text 1"/>
          <p:cNvSpPr/>
          <p:nvPr/>
        </p:nvSpPr>
        <p:spPr>
          <a:xfrm>
            <a:off x="791408" y="3454122"/>
            <a:ext cx="1721525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CLINICAL INTELLIGENCE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6037" y="3804523"/>
            <a:ext cx="12071033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Risk Profiling &amp; Emergency Response</a:t>
            </a:r>
            <a:endParaRPr lang="en-US" sz="3750" dirty="0"/>
          </a:p>
        </p:txBody>
      </p:sp>
      <p:sp>
        <p:nvSpPr>
          <p:cNvPr id="6" name="Shape 3"/>
          <p:cNvSpPr/>
          <p:nvPr/>
        </p:nvSpPr>
        <p:spPr>
          <a:xfrm>
            <a:off x="676037" y="4650700"/>
            <a:ext cx="13278207" cy="2587704"/>
          </a:xfrm>
          <a:prstGeom prst="roundRect">
            <a:avLst>
              <a:gd name="adj" fmla="val 1115"/>
            </a:avLst>
          </a:prstGeom>
          <a:solidFill>
            <a:srgbClr val="EAE8F3"/>
          </a:solidFill>
          <a:ln/>
        </p:spPr>
      </p:sp>
      <p:sp>
        <p:nvSpPr>
          <p:cNvPr id="7" name="Shape 4"/>
          <p:cNvSpPr/>
          <p:nvPr/>
        </p:nvSpPr>
        <p:spPr>
          <a:xfrm>
            <a:off x="676037" y="4650700"/>
            <a:ext cx="6639044" cy="1293852"/>
          </a:xfrm>
          <a:prstGeom prst="roundRect">
            <a:avLst>
              <a:gd name="adj" fmla="val 2231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839272" y="4813935"/>
            <a:ext cx="2405420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Profiling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9272" y="5212437"/>
            <a:ext cx="6067663" cy="56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Stratifies patients as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/ Moderate / Low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risk — enabling triage prioritisation at the point of care.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081" y="4650700"/>
            <a:ext cx="6639163" cy="1293852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081" y="4650700"/>
            <a:ext cx="22860" cy="1293852"/>
          </a:xfrm>
          <a:prstGeom prst="roundRect">
            <a:avLst>
              <a:gd name="adj" fmla="val 126272"/>
            </a:avLst>
          </a:prstGeom>
          <a:solidFill>
            <a:srgbClr val="D0CED9"/>
          </a:solidFill>
          <a:ln/>
        </p:spPr>
      </p:sp>
      <p:sp>
        <p:nvSpPr>
          <p:cNvPr id="12" name="Text 9"/>
          <p:cNvSpPr/>
          <p:nvPr/>
        </p:nvSpPr>
        <p:spPr>
          <a:xfrm>
            <a:off x="7723227" y="4813935"/>
            <a:ext cx="2405420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Probability Scoring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723227" y="5212437"/>
            <a:ext cx="6067782" cy="56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prediction carries a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statistical confidence score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giving clinicians measurable trust in AI outputs.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074575" y="5057061"/>
            <a:ext cx="481012" cy="481013"/>
          </a:xfrm>
          <a:prstGeom prst="roundRect">
            <a:avLst>
              <a:gd name="adj" fmla="val 6001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4828" y="5177195"/>
            <a:ext cx="240506" cy="24050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76037" y="5944553"/>
            <a:ext cx="6639044" cy="1293852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7" name="Shape 13"/>
          <p:cNvSpPr/>
          <p:nvPr/>
        </p:nvSpPr>
        <p:spPr>
          <a:xfrm>
            <a:off x="676037" y="5944553"/>
            <a:ext cx="6639044" cy="22860"/>
          </a:xfrm>
          <a:prstGeom prst="roundRect">
            <a:avLst>
              <a:gd name="adj" fmla="val 126272"/>
            </a:avLst>
          </a:prstGeom>
          <a:solidFill>
            <a:srgbClr val="D0CED9"/>
          </a:solidFill>
          <a:ln/>
        </p:spPr>
      </p:sp>
      <p:sp>
        <p:nvSpPr>
          <p:cNvPr id="18" name="Text 14"/>
          <p:cNvSpPr/>
          <p:nvPr/>
        </p:nvSpPr>
        <p:spPr>
          <a:xfrm>
            <a:off x="839272" y="6107787"/>
            <a:ext cx="2405420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Interpretable AI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839272" y="6506289"/>
            <a:ext cx="6067663" cy="56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Human-readable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clinical explanations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accompany every result — not just predictions, but reasoning.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315081" y="5944553"/>
            <a:ext cx="6639163" cy="1293852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081" y="5944553"/>
            <a:ext cx="22860" cy="1293852"/>
          </a:xfrm>
          <a:prstGeom prst="roundRect">
            <a:avLst>
              <a:gd name="adj" fmla="val 126272"/>
            </a:avLst>
          </a:prstGeom>
          <a:solidFill>
            <a:srgbClr val="D0CED9"/>
          </a:solidFill>
          <a:ln/>
        </p:spPr>
      </p:sp>
      <p:sp>
        <p:nvSpPr>
          <p:cNvPr id="22" name="Shape 18"/>
          <p:cNvSpPr/>
          <p:nvPr/>
        </p:nvSpPr>
        <p:spPr>
          <a:xfrm>
            <a:off x="7315081" y="5944553"/>
            <a:ext cx="6639163" cy="22860"/>
          </a:xfrm>
          <a:prstGeom prst="roundRect">
            <a:avLst>
              <a:gd name="adj" fmla="val 126272"/>
            </a:avLst>
          </a:prstGeom>
          <a:solidFill>
            <a:srgbClr val="D0CED9"/>
          </a:solidFill>
          <a:ln/>
        </p:spPr>
      </p:sp>
      <p:sp>
        <p:nvSpPr>
          <p:cNvPr id="23" name="Text 19"/>
          <p:cNvSpPr/>
          <p:nvPr/>
        </p:nvSpPr>
        <p:spPr>
          <a:xfrm>
            <a:off x="7723227" y="6107787"/>
            <a:ext cx="2488525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Emergency Triggers</a:t>
            </a:r>
            <a:endParaRPr lang="en-US" sz="1850" dirty="0"/>
          </a:p>
        </p:txBody>
      </p:sp>
      <p:sp>
        <p:nvSpPr>
          <p:cNvPr id="24" name="Text 20"/>
          <p:cNvSpPr/>
          <p:nvPr/>
        </p:nvSpPr>
        <p:spPr>
          <a:xfrm>
            <a:off x="7723227" y="6506289"/>
            <a:ext cx="6067782" cy="56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findings auto-trigger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doctor call alerts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live video consultation workflows instantly.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7074575" y="6350913"/>
            <a:ext cx="481012" cy="481013"/>
          </a:xfrm>
          <a:prstGeom prst="roundRect">
            <a:avLst>
              <a:gd name="adj" fmla="val 6001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4828" y="6471047"/>
            <a:ext cx="240506" cy="2405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61692" y="1469588"/>
            <a:ext cx="1116449" cy="195501"/>
          </a:xfrm>
          <a:prstGeom prst="roundRect">
            <a:avLst>
              <a:gd name="adj" fmla="val 7568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3135630" y="1506498"/>
            <a:ext cx="968573" cy="121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STACK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61692" y="1691878"/>
            <a:ext cx="6769179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Built for the Modern Clinical Environment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1692" y="2932033"/>
            <a:ext cx="5424130" cy="30735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94194" y="2244566"/>
            <a:ext cx="2062401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 &amp; Infrastructure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794194" y="2512457"/>
            <a:ext cx="2781895" cy="992862"/>
          </a:xfrm>
          <a:prstGeom prst="roundRect">
            <a:avLst>
              <a:gd name="adj" fmla="val 1863"/>
            </a:avLst>
          </a:prstGeom>
          <a:solidFill>
            <a:srgbClr val="FBFAFF"/>
          </a:solidFill>
          <a:ln w="15240">
            <a:solidFill>
              <a:srgbClr val="D0C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09434" y="2527697"/>
            <a:ext cx="493038" cy="962382"/>
          </a:xfrm>
          <a:prstGeom prst="roundRect">
            <a:avLst>
              <a:gd name="adj" fmla="val 42"/>
            </a:avLst>
          </a:prstGeom>
          <a:solidFill>
            <a:srgbClr val="EAE8F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3501" y="2916436"/>
            <a:ext cx="184904" cy="1849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69385" y="2650927"/>
            <a:ext cx="1541026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PWA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369385" y="2910364"/>
            <a:ext cx="2068235" cy="45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Installable app with full </a:t>
            </a:r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offline support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accessible even in low-connectivity clinical settings.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794194" y="3572232"/>
            <a:ext cx="2781895" cy="992862"/>
          </a:xfrm>
          <a:prstGeom prst="roundRect">
            <a:avLst>
              <a:gd name="adj" fmla="val 1863"/>
            </a:avLst>
          </a:prstGeom>
          <a:solidFill>
            <a:srgbClr val="FBFAFF"/>
          </a:solidFill>
          <a:ln w="15240">
            <a:solidFill>
              <a:srgbClr val="D0CED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809434" y="3587472"/>
            <a:ext cx="493038" cy="962382"/>
          </a:xfrm>
          <a:prstGeom prst="roundRect">
            <a:avLst>
              <a:gd name="adj" fmla="val 42"/>
            </a:avLst>
          </a:prstGeom>
          <a:solidFill>
            <a:srgbClr val="EAE8F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3501" y="3976211"/>
            <a:ext cx="184904" cy="184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69385" y="3710702"/>
            <a:ext cx="1541026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Next.js 15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369385" y="3970139"/>
            <a:ext cx="2068235" cy="45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Server-side rendering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fast, SEO-optimised, and highly responsive page loads.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794194" y="4632007"/>
            <a:ext cx="2781895" cy="992862"/>
          </a:xfrm>
          <a:prstGeom prst="roundRect">
            <a:avLst>
              <a:gd name="adj" fmla="val 1863"/>
            </a:avLst>
          </a:prstGeom>
          <a:solidFill>
            <a:srgbClr val="FBFAFF"/>
          </a:solidFill>
          <a:ln w="15240">
            <a:solidFill>
              <a:srgbClr val="D0CED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809434" y="4647248"/>
            <a:ext cx="493038" cy="962382"/>
          </a:xfrm>
          <a:prstGeom prst="roundRect">
            <a:avLst>
              <a:gd name="adj" fmla="val 42"/>
            </a:avLst>
          </a:prstGeom>
          <a:solidFill>
            <a:srgbClr val="EAE8F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63501" y="5035987"/>
            <a:ext cx="184904" cy="1849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69385" y="4770477"/>
            <a:ext cx="1541026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369385" y="5029914"/>
            <a:ext cx="2068235" cy="45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Clerk-powered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secure authentication with role-based access for clinical staff.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8794194" y="5691783"/>
            <a:ext cx="2781895" cy="992862"/>
          </a:xfrm>
          <a:prstGeom prst="roundRect">
            <a:avLst>
              <a:gd name="adj" fmla="val 1863"/>
            </a:avLst>
          </a:prstGeom>
          <a:solidFill>
            <a:srgbClr val="FBFAFF"/>
          </a:solidFill>
          <a:ln w="15240">
            <a:solidFill>
              <a:srgbClr val="D0CED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809434" y="5707023"/>
            <a:ext cx="493038" cy="962382"/>
          </a:xfrm>
          <a:prstGeom prst="roundRect">
            <a:avLst>
              <a:gd name="adj" fmla="val 42"/>
            </a:avLst>
          </a:prstGeom>
          <a:solidFill>
            <a:srgbClr val="EAE8F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63501" y="6095762"/>
            <a:ext cx="184904" cy="1849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69385" y="5830253"/>
            <a:ext cx="1541026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UI/UX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369385" y="6089690"/>
            <a:ext cx="2068235" cy="45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Tailwind CSS, Lucide Icons, </a:t>
            </a:r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Glassmorphic Dark Mode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clinician-first design system.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151102"/>
            <a:ext cx="2120146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219087"/>
            <a:ext cx="184796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668072"/>
            <a:ext cx="95892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Outcomes That Move the Needle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830360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3x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2565916" y="4862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Faster Diagnostics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352574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AI-assisted analysis cuts report-to-insight time dramatically across all three specialties.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56884" y="3830360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24+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9229130" y="4862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Renal Markers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56884" y="5352574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most comprehensive kidney risk model in the platform, covering every key biomarker.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23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54110" y="2910126"/>
            <a:ext cx="1405295" cy="291941"/>
          </a:xfrm>
          <a:prstGeom prst="roundRect">
            <a:avLst>
              <a:gd name="adj" fmla="val 6983"/>
            </a:avLst>
          </a:prstGeom>
          <a:solidFill>
            <a:srgbClr val="D7D6F5"/>
          </a:solidFill>
          <a:ln/>
        </p:spPr>
      </p:sp>
      <p:sp>
        <p:nvSpPr>
          <p:cNvPr id="4" name="Text 1"/>
          <p:cNvSpPr/>
          <p:nvPr/>
        </p:nvSpPr>
        <p:spPr>
          <a:xfrm>
            <a:off x="1556028" y="2961084"/>
            <a:ext cx="1201460" cy="19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ROADMAP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54110" y="3252907"/>
            <a:ext cx="4247078" cy="530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Comes Next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1454110" y="5708690"/>
            <a:ext cx="11722060" cy="22860"/>
          </a:xfrm>
          <a:prstGeom prst="roundRect">
            <a:avLst>
              <a:gd name="adj" fmla="val 111473"/>
            </a:avLst>
          </a:prstGeom>
          <a:solidFill>
            <a:srgbClr val="D0CED9"/>
          </a:solidFill>
          <a:ln/>
        </p:spPr>
      </p:sp>
      <p:sp>
        <p:nvSpPr>
          <p:cNvPr id="7" name="Shape 4"/>
          <p:cNvSpPr/>
          <p:nvPr/>
        </p:nvSpPr>
        <p:spPr>
          <a:xfrm>
            <a:off x="3739396" y="5199102"/>
            <a:ext cx="22860" cy="509588"/>
          </a:xfrm>
          <a:prstGeom prst="roundRect">
            <a:avLst>
              <a:gd name="adj" fmla="val 111473"/>
            </a:avLst>
          </a:prstGeom>
          <a:solidFill>
            <a:srgbClr val="D0CED9"/>
          </a:solidFill>
          <a:ln/>
        </p:spPr>
      </p:sp>
      <p:sp>
        <p:nvSpPr>
          <p:cNvPr id="8" name="Shape 5"/>
          <p:cNvSpPr/>
          <p:nvPr/>
        </p:nvSpPr>
        <p:spPr>
          <a:xfrm>
            <a:off x="3559731" y="5517594"/>
            <a:ext cx="382191" cy="382191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3623429" y="5549444"/>
            <a:ext cx="25479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689027" y="3974425"/>
            <a:ext cx="2123480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1 — Now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23893" y="4316254"/>
            <a:ext cx="4253865" cy="47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Heart, Brain &amp; Kidney AI models live on unified dashboard with PDF ingestion and risk profiling.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15526" y="5708690"/>
            <a:ext cx="22860" cy="509588"/>
          </a:xfrm>
          <a:prstGeom prst="roundRect">
            <a:avLst>
              <a:gd name="adj" fmla="val 111473"/>
            </a:avLst>
          </a:prstGeom>
          <a:solidFill>
            <a:srgbClr val="D0CED9"/>
          </a:solidFill>
          <a:ln/>
        </p:spPr>
      </p:sp>
      <p:sp>
        <p:nvSpPr>
          <p:cNvPr id="13" name="Shape 10"/>
          <p:cNvSpPr/>
          <p:nvPr/>
        </p:nvSpPr>
        <p:spPr>
          <a:xfrm>
            <a:off x="5935861" y="5517594"/>
            <a:ext cx="382191" cy="382191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4" name="Text 11"/>
          <p:cNvSpPr/>
          <p:nvPr/>
        </p:nvSpPr>
        <p:spPr>
          <a:xfrm>
            <a:off x="5999559" y="5549444"/>
            <a:ext cx="25479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951809" y="6388179"/>
            <a:ext cx="2350294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2 — Near Term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4000024" y="6730008"/>
            <a:ext cx="4253865" cy="712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IoT + Wearables</a:t>
            </a:r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integration: continuous vitals from smartwatches and remote monitoring devices feed directly into risk models.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491776" y="5199102"/>
            <a:ext cx="22860" cy="509588"/>
          </a:xfrm>
          <a:prstGeom prst="roundRect">
            <a:avLst>
              <a:gd name="adj" fmla="val 111473"/>
            </a:avLst>
          </a:prstGeom>
          <a:solidFill>
            <a:srgbClr val="D0CED9"/>
          </a:solidFill>
          <a:ln/>
        </p:spPr>
      </p:sp>
      <p:sp>
        <p:nvSpPr>
          <p:cNvPr id="18" name="Shape 15"/>
          <p:cNvSpPr/>
          <p:nvPr/>
        </p:nvSpPr>
        <p:spPr>
          <a:xfrm>
            <a:off x="8312110" y="5517594"/>
            <a:ext cx="382191" cy="382191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9" name="Text 16"/>
          <p:cNvSpPr/>
          <p:nvPr/>
        </p:nvSpPr>
        <p:spPr>
          <a:xfrm>
            <a:off x="8375809" y="5549444"/>
            <a:ext cx="25479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439501" y="3974425"/>
            <a:ext cx="2127409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3 — Strategic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6376273" y="4316254"/>
            <a:ext cx="4253865" cy="712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EMR / Hospital System</a:t>
            </a:r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compatibility via HL7 FHIR APIs — enabling seamless integration with existing clinical workflows.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867906" y="5708690"/>
            <a:ext cx="22860" cy="509588"/>
          </a:xfrm>
          <a:prstGeom prst="roundRect">
            <a:avLst>
              <a:gd name="adj" fmla="val 111473"/>
            </a:avLst>
          </a:prstGeom>
          <a:solidFill>
            <a:srgbClr val="D0CED9"/>
          </a:solidFill>
          <a:ln/>
        </p:spPr>
      </p:sp>
      <p:sp>
        <p:nvSpPr>
          <p:cNvPr id="23" name="Shape 20"/>
          <p:cNvSpPr/>
          <p:nvPr/>
        </p:nvSpPr>
        <p:spPr>
          <a:xfrm>
            <a:off x="10688241" y="5517594"/>
            <a:ext cx="382191" cy="382191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4" name="Text 21"/>
          <p:cNvSpPr/>
          <p:nvPr/>
        </p:nvSpPr>
        <p:spPr>
          <a:xfrm>
            <a:off x="10751939" y="5549444"/>
            <a:ext cx="25479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9817537" y="6388179"/>
            <a:ext cx="2123480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4 — Vision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8752403" y="6730008"/>
            <a:ext cx="4253865" cy="712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Multi-specialty expansion: Oncology, Pulmonology, Endocrinology — a true whole-body AI diagnostics ecosystem.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73756"/>
            <a:ext cx="1709023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541740"/>
            <a:ext cx="143684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90725"/>
            <a:ext cx="91986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Designed for Every Stakeholder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39666"/>
            <a:ext cx="2411968" cy="14906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813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Clinicians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304234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Spend less time on report interpretation and more on patient care — with AI surfacing critical findings instantly.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039666"/>
            <a:ext cx="2411968" cy="14906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4813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Health Executives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5304234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diagnostic costs, improve throughput, and demonstrate measurable outcomes with a scalable AI investment.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039666"/>
            <a:ext cx="2411968" cy="14906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4813816"/>
            <a:ext cx="32831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&amp; Tech Teams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5304234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modular, API-first architecture that integrates cleanly into existing systems and extends with new models.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5557" y="1231106"/>
            <a:ext cx="5198864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AI-Driven Healthcare.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5557" y="2032516"/>
            <a:ext cx="7852886" cy="1590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50"/>
              </a:lnSpc>
              <a:buNone/>
            </a:pPr>
            <a:r>
              <a:rPr lang="en-US" sz="5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Unified. Intelligent. Scalable.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45557" y="3848457"/>
            <a:ext cx="7852886" cy="80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Multi-Modal AI Diagnostics Hub is not a product — it is a clinical operating system for the intelligent hospital of tomorrow. Built to adapt, designed to last, and engineered to save lives.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5557" y="4819412"/>
            <a:ext cx="3851434" cy="1014532"/>
          </a:xfrm>
          <a:prstGeom prst="roundRect">
            <a:avLst>
              <a:gd name="adj" fmla="val 2727"/>
            </a:avLst>
          </a:prstGeom>
          <a:solidFill>
            <a:srgbClr val="EAE8F3"/>
          </a:solidFill>
          <a:ln/>
        </p:spPr>
      </p:sp>
      <p:sp>
        <p:nvSpPr>
          <p:cNvPr id="7" name="Text 4"/>
          <p:cNvSpPr/>
          <p:nvPr/>
        </p:nvSpPr>
        <p:spPr>
          <a:xfrm>
            <a:off x="829985" y="5003840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🫀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Cardiac AI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9985" y="5382101"/>
            <a:ext cx="3482578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13-feature RandomForest risk engine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647009" y="4819412"/>
            <a:ext cx="3851434" cy="1014532"/>
          </a:xfrm>
          <a:prstGeom prst="roundRect">
            <a:avLst>
              <a:gd name="adj" fmla="val 2727"/>
            </a:avLst>
          </a:prstGeom>
          <a:solidFill>
            <a:srgbClr val="EAE8F3"/>
          </a:solidFill>
          <a:ln/>
        </p:spPr>
      </p:sp>
      <p:sp>
        <p:nvSpPr>
          <p:cNvPr id="10" name="Text 7"/>
          <p:cNvSpPr/>
          <p:nvPr/>
        </p:nvSpPr>
        <p:spPr>
          <a:xfrm>
            <a:off x="4831437" y="5003840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🧠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Neuro AI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31437" y="5382101"/>
            <a:ext cx="3482578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NLP-powered MRI report analysis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5557" y="5983962"/>
            <a:ext cx="7852886" cy="1014532"/>
          </a:xfrm>
          <a:prstGeom prst="roundRect">
            <a:avLst>
              <a:gd name="adj" fmla="val 2727"/>
            </a:avLst>
          </a:prstGeom>
          <a:solidFill>
            <a:srgbClr val="EAE8F3"/>
          </a:solidFill>
          <a:ln/>
        </p:spPr>
      </p:sp>
      <p:sp>
        <p:nvSpPr>
          <p:cNvPr id="13" name="Text 10"/>
          <p:cNvSpPr/>
          <p:nvPr/>
        </p:nvSpPr>
        <p:spPr>
          <a:xfrm>
            <a:off x="829985" y="6168390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🩺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Renal AI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9985" y="6546652"/>
            <a:ext cx="748403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24-marker kidney disease staging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2026-02-20T12:52:34Z</dcterms:created>
  <dcterms:modified xsi:type="dcterms:W3CDTF">2026-02-20T12:52:34Z</dcterms:modified>
</cp:coreProperties>
</file>